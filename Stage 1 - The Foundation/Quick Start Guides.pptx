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4" r:id="rId2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01C98-052D-FD24-1537-748CCD89DA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39608C-7CC7-2093-0247-314CC3E023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236EC-B524-6734-DEDF-17713EF55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C6CFE-BD6A-4F64-936A-D7FD449A8223}" type="datetimeFigureOut">
              <a:rPr lang="en-SE" smtClean="0"/>
              <a:t>2026-05-09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228F7-57F9-6048-A27E-7DD0F11A4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C9789D-E38C-009E-72AF-9EE18AE37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5D276-481E-4794-9A7E-567F67B1427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790682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98AA0-AF18-ED34-6C88-793E6965B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99243-C7A3-5523-098D-95A386453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CC9ED-BEB7-5A20-EEC9-6205F1DCE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C6CFE-BD6A-4F64-936A-D7FD449A8223}" type="datetimeFigureOut">
              <a:rPr lang="en-SE" smtClean="0"/>
              <a:t>2026-05-09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2A14F-1E97-8CC5-7731-C4D02FFE7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A9FD0-99D8-01A7-CF4C-CE8E3D3B6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5D276-481E-4794-9A7E-567F67B1427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843027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BD6C6-7538-FE9A-66E9-89F0BD027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172275-DAB2-B4A7-4E92-6493328E3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CDAE6-0FC2-CD04-189A-D5CA1CF0C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C6CFE-BD6A-4F64-936A-D7FD449A8223}" type="datetimeFigureOut">
              <a:rPr lang="en-SE" smtClean="0"/>
              <a:t>2026-05-09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28A72-12FA-D85C-1234-AB0101262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EB9E0-25E8-8EC2-DE4C-887AB2F49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5D276-481E-4794-9A7E-567F67B1427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637131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54362-55A4-576B-6428-178B8078E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23B00-C3C3-4152-7D6E-567B9F11D8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083B4A-444B-3A65-22DF-579A955851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A718C1-8BA4-2933-3B4E-387114670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C6CFE-BD6A-4F64-936A-D7FD449A8223}" type="datetimeFigureOut">
              <a:rPr lang="en-SE" smtClean="0"/>
              <a:t>2026-05-09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1CB91B-AA37-135A-B1E0-1F767B440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22D9BC-AD83-E222-5648-EA895D0A3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5D276-481E-4794-9A7E-567F67B1427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711379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26E4F-A9D8-ADBB-2DAE-98FB7D207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0B8839-308A-5494-2C83-DE39E875C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2830C2-1AFD-33C3-FD54-FD575B97A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468469-62B8-E18D-6F93-80E490E116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EAFB87-864A-D885-D306-1A760FB433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8B8662-ACBC-BD46-FC1C-F9CC7533E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C6CFE-BD6A-4F64-936A-D7FD449A8223}" type="datetimeFigureOut">
              <a:rPr lang="en-SE" smtClean="0"/>
              <a:t>2026-05-09</a:t>
            </a:fld>
            <a:endParaRPr lang="en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8EEB95-DF89-9AE7-60E9-F2C13CFDE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824D12-F70D-B8ED-4A01-93428B064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5D276-481E-4794-9A7E-567F67B1427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48525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05885-FBF8-F5A9-56DA-B86010F7B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75A623-96FA-366E-BB2A-429C0D56E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C6CFE-BD6A-4F64-936A-D7FD449A8223}" type="datetimeFigureOut">
              <a:rPr lang="en-SE" smtClean="0"/>
              <a:t>2026-05-09</a:t>
            </a:fld>
            <a:endParaRPr lang="en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AD8AA2-8042-5F56-72C7-83D70A689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220682-5254-BEFB-F83E-2C40450EB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5D276-481E-4794-9A7E-567F67B1427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611520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0095B0-B194-28D5-E6FA-5628CF281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C6CFE-BD6A-4F64-936A-D7FD449A8223}" type="datetimeFigureOut">
              <a:rPr lang="en-SE" smtClean="0"/>
              <a:t>2026-05-09</a:t>
            </a:fld>
            <a:endParaRPr lang="en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951560-1EBA-B9AB-2BCC-B6D50AC66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9C62D2-ED77-DA60-4DF4-8D6DEB5B2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5D276-481E-4794-9A7E-567F67B1427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051882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9B450-BB98-B63C-CE6D-D4F62F276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08276-614A-46B6-6930-B6C53ED3C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20F5C4-6A5A-3199-9BAC-6C29F7C3FF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955000-3245-329D-3995-DFD36280A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C6CFE-BD6A-4F64-936A-D7FD449A8223}" type="datetimeFigureOut">
              <a:rPr lang="en-SE" smtClean="0"/>
              <a:t>2026-05-09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97BD9F-E401-A270-F2FB-E22CADA7D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EC1D0B-5BC8-0D16-9C5D-5A873E929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5D276-481E-4794-9A7E-567F67B1427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622765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2C5E5-6155-DD8C-9B11-01B567F71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787377-5087-7F85-355A-4CA3CD95E8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C3FA37-4AEB-6322-BB86-9EB12011F7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08373C-6410-964D-4290-5752C91FB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C6CFE-BD6A-4F64-936A-D7FD449A8223}" type="datetimeFigureOut">
              <a:rPr lang="en-SE" smtClean="0"/>
              <a:t>2026-05-09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E49BF5-D20A-6436-83DA-5DA1988C0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39BBA8-BD40-C429-92E7-DD7F2D758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5D276-481E-4794-9A7E-567F67B1427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598521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DA9E5-5DA6-D96F-588E-FA3DE5A87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5318A7-8D11-02FB-A3B3-1C509970F1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8C299-6B0B-E5FB-84D8-D23B9952B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C6CFE-BD6A-4F64-936A-D7FD449A8223}" type="datetimeFigureOut">
              <a:rPr lang="en-SE" smtClean="0"/>
              <a:t>2026-05-09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A7957-0456-F913-679E-4298EAD4C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C75BC-9621-039A-6261-338AED13A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5D276-481E-4794-9A7E-567F67B1427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880645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0CA331-9AB3-EB87-970F-C626C5A2DD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11922B-13C8-8974-2167-D0BB2AB58D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23535-DC1D-4867-078A-C31842F02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C6CFE-BD6A-4F64-936A-D7FD449A8223}" type="datetimeFigureOut">
              <a:rPr lang="en-SE" smtClean="0"/>
              <a:t>2026-05-09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AB233-092C-D212-06A4-2389796A2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D721D-2FB3-781B-038C-163E52314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5D276-481E-4794-9A7E-567F67B1427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750431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2F6F6E-4580-9257-F593-947DFC80A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C66ABD-D132-43DB-37A2-C4F3C8BAB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8B328-0D10-A67F-2648-8F80DB8BFE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EC6CFE-BD6A-4F64-936A-D7FD449A8223}" type="datetimeFigureOut">
              <a:rPr lang="en-SE" smtClean="0"/>
              <a:t>2026-05-09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966A6-4E0A-321D-63F5-40D1FBC538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BD40-9F69-BB08-1000-512A811FE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E5D276-481E-4794-9A7E-567F67B1427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168579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53415-687C-7EBE-3358-16B74F9ED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ED392923-373D-0646-94E8-24D60E58DDB5}"/>
              </a:ext>
            </a:extLst>
          </p:cNvPr>
          <p:cNvSpPr/>
          <p:nvPr/>
        </p:nvSpPr>
        <p:spPr>
          <a:xfrm>
            <a:off x="0" y="6394075"/>
            <a:ext cx="12192000" cy="463925"/>
          </a:xfrm>
          <a:prstGeom prst="rect">
            <a:avLst/>
          </a:prstGeom>
          <a:solidFill>
            <a:srgbClr val="67A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507123CB-EBF4-CBC4-5D8A-821767737C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5903" y="6433835"/>
            <a:ext cx="920488" cy="380274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9E0D1F4-0E65-B30B-9502-96D64862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926" y="170288"/>
            <a:ext cx="5459837" cy="937895"/>
          </a:xfrm>
        </p:spPr>
        <p:txBody>
          <a:bodyPr>
            <a:normAutofit/>
          </a:bodyPr>
          <a:lstStyle/>
          <a:p>
            <a:pPr algn="ctr"/>
            <a:r>
              <a:rPr lang="en-GB" b="1" dirty="0"/>
              <a:t>Quick Start Guides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2857DF-5802-BF98-8B73-C98518C82CFA}"/>
              </a:ext>
            </a:extLst>
          </p:cNvPr>
          <p:cNvSpPr txBox="1"/>
          <p:nvPr/>
        </p:nvSpPr>
        <p:spPr>
          <a:xfrm>
            <a:off x="5926665" y="257864"/>
            <a:ext cx="6096000" cy="57554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One Page Template</a:t>
            </a:r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r>
              <a:rPr lang="en-US" sz="1600" b="1" dirty="0"/>
              <a:t>STRATEGIC INTENT</a:t>
            </a:r>
          </a:p>
          <a:p>
            <a:pPr>
              <a:buNone/>
            </a:pPr>
            <a:r>
              <a:rPr lang="en-US" sz="1600" dirty="0"/>
              <a:t>[Write a 2-sentence summary of your goal here]</a:t>
            </a:r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r>
              <a:rPr lang="en-US" sz="1600" b="1" dirty="0"/>
              <a:t>KEY FOCUS AREAS &amp; RATIONALE</a:t>
            </a:r>
          </a:p>
          <a:p>
            <a:r>
              <a:rPr lang="en-US" sz="1600" b="1" dirty="0"/>
              <a:t>[Focus Area 1]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Why:</a:t>
            </a:r>
            <a:endParaRPr lang="en-US" sz="1600" dirty="0"/>
          </a:p>
          <a:p>
            <a:r>
              <a:rPr lang="en-US" sz="1600" b="1" dirty="0"/>
              <a:t>[Focus Area 2]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Why:</a:t>
            </a:r>
            <a:endParaRPr lang="en-US" sz="1600" dirty="0"/>
          </a:p>
          <a:p>
            <a:r>
              <a:rPr lang="en-US" sz="1600" b="1" dirty="0"/>
              <a:t>[Focus Area 3]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Why:</a:t>
            </a:r>
            <a:endParaRPr lang="en-US" sz="1600" dirty="0"/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r>
              <a:rPr lang="en-US" sz="1600" b="1" dirty="0"/>
              <a:t>METHODOLOGICAL APPROACH</a:t>
            </a:r>
          </a:p>
          <a:p>
            <a:pPr>
              <a:buNone/>
            </a:pPr>
            <a:r>
              <a:rPr lang="en-US" sz="1600" dirty="0"/>
              <a:t>[Briefly describe the high-level testing methodology]</a:t>
            </a:r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r>
              <a:rPr lang="en-US" sz="1600" b="1" dirty="0"/>
              <a:t>RISK MITIGATION SUMMARY</a:t>
            </a:r>
          </a:p>
          <a:p>
            <a:pPr>
              <a:buNone/>
            </a:pPr>
            <a:r>
              <a:rPr lang="en-US" sz="1600" dirty="0"/>
              <a:t>[Identify the top 2-3 business-level risks addressed by this strategy]</a:t>
            </a:r>
          </a:p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en-US" sz="1600" b="1" dirty="0"/>
              <a:t>AUDIT FRICTION LOG</a:t>
            </a:r>
          </a:p>
          <a:p>
            <a:pPr>
              <a:buNone/>
            </a:pPr>
            <a:r>
              <a:rPr lang="en-US" sz="1600" b="1" dirty="0"/>
              <a:t>Documentation Gaps:</a:t>
            </a:r>
            <a:endParaRPr lang="en-US" sz="1600" dirty="0"/>
          </a:p>
          <a:p>
            <a:pPr>
              <a:buNone/>
            </a:pPr>
            <a:r>
              <a:rPr lang="en-US" sz="1600" b="1" dirty="0"/>
              <a:t>Requirement Ambiguity:</a:t>
            </a:r>
            <a:endParaRPr lang="en-US" sz="1600" dirty="0"/>
          </a:p>
          <a:p>
            <a:pPr>
              <a:buNone/>
            </a:pPr>
            <a:r>
              <a:rPr lang="en-US" sz="1600" b="1" dirty="0"/>
              <a:t>Technical Unknowns:</a:t>
            </a:r>
            <a:endParaRPr lang="en-US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73F052-720F-25DF-2075-26D70B93D163}"/>
              </a:ext>
            </a:extLst>
          </p:cNvPr>
          <p:cNvSpPr txBox="1"/>
          <p:nvPr/>
        </p:nvSpPr>
        <p:spPr>
          <a:xfrm>
            <a:off x="316926" y="1488971"/>
            <a:ext cx="5459837" cy="45243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Strategic Thinking Framework</a:t>
            </a:r>
          </a:p>
          <a:p>
            <a:endParaRPr lang="en-US" b="1" dirty="0"/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THE "NORTH STAR" OBJECTIVE</a:t>
            </a:r>
            <a:r>
              <a:rPr lang="en-US" dirty="0"/>
              <a:t> What is the core message of confidence you are sending to the investor?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PRIORITIZATION LOGIC</a:t>
            </a:r>
            <a:r>
              <a:rPr lang="en-US" dirty="0"/>
              <a:t> Which three functional areas are "make or break" for funding, and why?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RISK EXPOSURE</a:t>
            </a:r>
            <a:r>
              <a:rPr lang="en-US" dirty="0"/>
              <a:t> Which technical failures pose the greatest threat to business continuity or investor trust?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STRATEGIC APPROACH</a:t>
            </a:r>
            <a:r>
              <a:rPr lang="en-US" dirty="0"/>
              <a:t> What high-level methodology will you use to ensure the audit is both rigorous and efficient?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CONFIDENCE OUTCOMES</a:t>
            </a:r>
            <a:r>
              <a:rPr lang="en-US" dirty="0"/>
              <a:t> What specific results or signals will prove to stakeholders that the platform is ready for scale?</a:t>
            </a:r>
          </a:p>
        </p:txBody>
      </p:sp>
    </p:spTree>
    <p:extLst>
      <p:ext uri="{BB962C8B-B14F-4D97-AF65-F5344CB8AC3E}">
        <p14:creationId xmlns:p14="http://schemas.microsoft.com/office/powerpoint/2010/main" val="3845329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175</Words>
  <Application>Microsoft Office PowerPoint</Application>
  <PresentationFormat>Widescreen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Quick Start Guides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 Hennersten-Manley</dc:creator>
  <cp:lastModifiedBy>Rob Hennersten-Manley</cp:lastModifiedBy>
  <cp:revision>1</cp:revision>
  <dcterms:created xsi:type="dcterms:W3CDTF">2026-05-09T15:41:53Z</dcterms:created>
  <dcterms:modified xsi:type="dcterms:W3CDTF">2026-05-09T15:51:38Z</dcterms:modified>
</cp:coreProperties>
</file>